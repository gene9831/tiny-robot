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68" r:id="rId4"/>
    <p:sldId id="269" r:id="rId5"/>
    <p:sldId id="270" r:id="rId6"/>
    <p:sldId id="263" r:id="rId7"/>
    <p:sldId id="271" r:id="rId8"/>
    <p:sldId id="266" r:id="rId9"/>
    <p:sldId id="272" r:id="rId10"/>
    <p:sldId id="267" r:id="rId11"/>
    <p:sldId id="273" r:id="rId12"/>
    <p:sldId id="27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EEAB6E-FD63-4D4C-AD46-C0AC54D1ABBD}" v="472" dt="2026-05-25T08:37:14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A51E8-D79B-4D21-80CF-FE6EA89E44D4}" type="datetimeFigureOut">
              <a:t>2026/5/25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C31EA-DBB0-433C-A2CB-4C25B9C95C98}" type="slidenum"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92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部分。首先，我们将明确TinyRobot组件库的定位。接着，通过一个完整的成品展示，让大家直观感受其能力。然后，我们会进行实战演练，从零搭建一个AI助手页面。最后，探讨如何将其产品化，扩展到更多应用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现在，让我们进入第一部分，深入了解TinyRobot组件库的定位。我们将探讨它如何作为面向AI应用的界面基础设施，为开发者提供强大的支持。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理论说再多，不如亲眼一见。接下来，让我们进入第二部分，通过一个完整的AI助手界面，来直观感受TinyRobot的强大能力。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看完了成品，大家一定很好奇，这一切是如何实现的？接下来，我将带领大家进入第三部分，从零开始，只用几分钟时间，搭建一个刚才演示的AI助手页面。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7D43E-3023-59DC-9715-882B0423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EC8DB4-4430-55E4-7F1D-9D07DE2A69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4D93A9-B108-4D48-C2B4-30B4680CD68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8FF8617-51E3-43F8-7B48-ACC564047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0264E03-0726-84A0-9A4B-B98B560A5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看完了成品，大家一定很好奇，这一切是如何实现的？接下来，我将带领大家进入第三部分，从零开始，只用几分钟时间，搭建一个刚才演示的AI助手页面。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DDA8A-537C-F425-C6A7-698025233B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3F021-50BB-4943-24E8-471E81224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13458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08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01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05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0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08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9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6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26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4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0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1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26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17B11-CCD8-4EEC-AD7E-F410C1454966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4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28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114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1476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413000" y="2159000"/>
            <a:ext cx="330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组件库定位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面向 AI 应用的界面基础设施，为智能应用提供统一的视觉与交互规范。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159000"/>
            <a:ext cx="114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1476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874000" y="2159000"/>
            <a:ext cx="330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成品展示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展示一个功能完整、体验流畅的 AI 助手界面，直观感受组件库的应用效果。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572000"/>
            <a:ext cx="114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1476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413000" y="4572000"/>
            <a:ext cx="330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组件实践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从零开始，演示如何快速调用组件库，搭建一个完整的 AI 助手页面。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4572000"/>
            <a:ext cx="114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1476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4572000"/>
            <a:ext cx="330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产品化扩展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探讨组件库的灵活性与扩展性，如何适配并赋能更多不同类型的 AI 应用场景。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571885" y="830705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476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9600"/>
          </a:p>
        </p:txBody>
      </p:sp>
      <p:sp>
        <p:nvSpPr>
          <p:cNvPr id="4" name="AutoShape 4"/>
          <p:cNvSpPr/>
          <p:nvPr/>
        </p:nvSpPr>
        <p:spPr>
          <a:xfrm>
            <a:off x="1571885" y="3237459"/>
            <a:ext cx="635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组件库定位</a:t>
            </a:r>
            <a:endParaRPr lang="en-US" sz="1100" dirty="0" err="1"/>
          </a:p>
        </p:txBody>
      </p:sp>
      <p:sp>
        <p:nvSpPr>
          <p:cNvPr id="5" name="AutoShape 5"/>
          <p:cNvSpPr/>
          <p:nvPr/>
        </p:nvSpPr>
        <p:spPr>
          <a:xfrm>
            <a:off x="1571885" y="4253459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</a:t>
            </a:r>
            <a:r>
              <a:rPr lang="en-US" sz="2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AI </a:t>
            </a:r>
            <a:r>
              <a:rPr lang="en-US" sz="2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应用的界面基础设施</a:t>
            </a:r>
            <a:endParaRPr lang="en-US" sz="1100" dirty="0" err="1"/>
          </a:p>
        </p:txBody>
      </p:sp>
      <p:sp>
        <p:nvSpPr>
          <p:cNvPr id="6" name="AutoShape 6"/>
          <p:cNvSpPr/>
          <p:nvPr/>
        </p:nvSpPr>
        <p:spPr>
          <a:xfrm>
            <a:off x="1571885" y="5015459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144000" y="2032000"/>
            <a:ext cx="2286000" cy="2286000"/>
          </a:xfrm>
          <a:prstGeom prst="ellipse">
            <a:avLst/>
          </a:prstGeom>
          <a:solidFill>
            <a:srgbClr val="1476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906000" y="4064000"/>
            <a:ext cx="1270000" cy="1270000"/>
          </a:xfrm>
          <a:prstGeom prst="roundRect">
            <a:avLst>
              <a:gd name="adj" fmla="val 10000"/>
            </a:avLst>
          </a:prstGeom>
          <a:solidFill>
            <a:srgbClr val="1476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>
            <a:extLst>
              <a:ext uri="{FF2B5EF4-FFF2-40B4-BE49-F238E27FC236}">
                <a16:creationId xmlns:a16="http://schemas.microsoft.com/office/drawing/2014/main" id="{0CEDD175-6DA3-D1C1-FE40-1DFF78B97D24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 应用界面不只是聊天框</a:t>
            </a:r>
            <a:endParaRPr lang="en-US" sz="1100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841F986-6BF7-2ECB-41EC-8BD274E43740}"/>
              </a:ext>
            </a:extLst>
          </p:cNvPr>
          <p:cNvSpPr/>
          <p:nvPr/>
        </p:nvSpPr>
        <p:spPr>
          <a:xfrm>
            <a:off x="762000" y="1651000"/>
            <a:ext cx="4569627" cy="4064000"/>
          </a:xfrm>
          <a:prstGeom prst="roundRect">
            <a:avLst>
              <a:gd name="adj" fmla="val 375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2DD46DC-CE44-C04B-7B81-EA9A5FEAD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9CC1804A-4F9E-A5C3-3890-CFA001F529B9}"/>
              </a:ext>
            </a:extLst>
          </p:cNvPr>
          <p:cNvSpPr/>
          <p:nvPr/>
        </p:nvSpPr>
        <p:spPr>
          <a:xfrm>
            <a:off x="1524000" y="187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Demo 阶段：能对话</a:t>
            </a:r>
            <a:endParaRPr lang="en-US" sz="1100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7F8EE64D-D5A3-654B-ECDE-4BC8FC5A8C17}"/>
              </a:ext>
            </a:extLst>
          </p:cNvPr>
          <p:cNvSpPr/>
          <p:nvPr/>
        </p:nvSpPr>
        <p:spPr>
          <a:xfrm>
            <a:off x="1016000" y="2540000"/>
            <a:ext cx="4068748" cy="1778000"/>
          </a:xfrm>
          <a:prstGeom prst="roundRect">
            <a:avLst>
              <a:gd name="adj" fmla="val 5714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Demo 聊天框示意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仅包含消息列表、输入框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72F363FF-667C-7C36-E4E6-9C23DBD34262}"/>
              </a:ext>
            </a:extLst>
          </p:cNvPr>
          <p:cNvSpPr/>
          <p:nvPr/>
        </p:nvSpPr>
        <p:spPr>
          <a:xfrm>
            <a:off x="1016000" y="4445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只包含基础的消息列表、输入框和发送按钮，视觉上保持极简，仅满足“能对话”的基础需求。</a:t>
            </a:r>
            <a:endParaRPr lang="en-US" sz="1100"/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55BDF612-02FD-8043-3EFC-127DD3E069F5}"/>
              </a:ext>
            </a:extLst>
          </p:cNvPr>
          <p:cNvSpPr/>
          <p:nvPr/>
        </p:nvSpPr>
        <p:spPr>
          <a:xfrm>
            <a:off x="5536963" y="3302000"/>
            <a:ext cx="1194037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从“能用”</a:t>
            </a:r>
            <a:br>
              <a:rPr lang="en-US" sz="14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到“可交付”</a:t>
            </a:r>
            <a:endParaRPr lang="en-US" sz="1100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1E5444C8-4214-663B-0E56-2A88F9542810}"/>
              </a:ext>
            </a:extLst>
          </p:cNvPr>
          <p:cNvSpPr/>
          <p:nvPr/>
        </p:nvSpPr>
        <p:spPr>
          <a:xfrm>
            <a:off x="6731000" y="1651000"/>
            <a:ext cx="4569627" cy="4064000"/>
          </a:xfrm>
          <a:prstGeom prst="roundRect">
            <a:avLst>
              <a:gd name="adj" fmla="val 375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0EDC48ED-2A8E-8CDD-6CD8-D73EE7DD6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0" y="1905000"/>
            <a:ext cx="355600" cy="355600"/>
          </a:xfrm>
          <a:prstGeom prst="rect">
            <a:avLst/>
          </a:prstGeom>
        </p:spPr>
      </p:pic>
      <p:sp>
        <p:nvSpPr>
          <p:cNvPr id="11" name="AutoShape 12">
            <a:extLst>
              <a:ext uri="{FF2B5EF4-FFF2-40B4-BE49-F238E27FC236}">
                <a16:creationId xmlns:a16="http://schemas.microsoft.com/office/drawing/2014/main" id="{68E02AFF-2459-0DCC-2A54-E69B1C0ED546}"/>
              </a:ext>
            </a:extLst>
          </p:cNvPr>
          <p:cNvSpPr/>
          <p:nvPr/>
        </p:nvSpPr>
        <p:spPr>
          <a:xfrm>
            <a:off x="7493000" y="187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产品阶段：可交付</a:t>
            </a:r>
            <a:endParaRPr lang="en-US" sz="1100"/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89888892-33AC-2C02-0211-669F554AC243}"/>
              </a:ext>
            </a:extLst>
          </p:cNvPr>
          <p:cNvSpPr/>
          <p:nvPr/>
        </p:nvSpPr>
        <p:spPr>
          <a:xfrm>
            <a:off x="6985000" y="2540000"/>
            <a:ext cx="4071454" cy="1778000"/>
          </a:xfrm>
          <a:prstGeom prst="roundRect">
            <a:avLst>
              <a:gd name="adj" fmla="val 5714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TinyRobot 产品界面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完整交互链路与功能</a:t>
            </a:r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ED5E3F02-3881-A5BC-25AD-84DF91573C41}"/>
              </a:ext>
            </a:extLst>
          </p:cNvPr>
          <p:cNvSpPr/>
          <p:nvPr/>
        </p:nvSpPr>
        <p:spPr>
          <a:xfrm>
            <a:off x="6985000" y="4445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展示消息流、生成状态、操作反馈及引用来源，功能完整，体验流畅，接近真实产品的交付标准。</a:t>
            </a:r>
            <a:endParaRPr lang="en-US" sz="1100"/>
          </a:p>
        </p:txBody>
      </p:sp>
      <p:sp>
        <p:nvSpPr>
          <p:cNvPr id="14" name="AutoShape 15">
            <a:extLst>
              <a:ext uri="{FF2B5EF4-FFF2-40B4-BE49-F238E27FC236}">
                <a16:creationId xmlns:a16="http://schemas.microsoft.com/office/drawing/2014/main" id="{CD4F6F33-647A-E013-FEFB-53049512BA71}"/>
              </a:ext>
            </a:extLst>
          </p:cNvPr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bg2">
                    <a:lumMod val="1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聊天框只是起点，真正的</a:t>
            </a:r>
            <a:r>
              <a:rPr lang="en-US" sz="1600" b="1" i="0" u="none" strike="noStrike" dirty="0">
                <a:solidFill>
                  <a:schemeClr val="bg2">
                    <a:lumMod val="1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AI </a:t>
            </a:r>
            <a:r>
              <a:rPr lang="en-US" sz="1600" b="1" i="0" u="none" strike="noStrike" dirty="0" err="1">
                <a:solidFill>
                  <a:schemeClr val="bg2">
                    <a:lumMod val="1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应用需要完整的交互链路</a:t>
            </a:r>
            <a:endParaRPr lang="en-US" sz="1100" dirty="0" err="1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55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C405F7D1-4FB0-D6B0-791D-DC1C9F66B624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sz="3000" b="1" dirty="0">
                <a:solidFill>
                  <a:srgbClr val="374151"/>
                </a:solidFill>
                <a:latin typeface="Noto Sans SC"/>
              </a:rPr>
              <a:t>从</a:t>
            </a:r>
            <a:r>
              <a:rPr lang="en-US" sz="3000" b="1" dirty="0">
                <a:solidFill>
                  <a:srgbClr val="374151"/>
                </a:solidFill>
                <a:latin typeface="Noto Sans SC"/>
              </a:rPr>
              <a:t> Demo </a:t>
            </a:r>
            <a:r>
              <a:rPr lang="zh-CN" altLang="en-US" sz="3000" b="1" dirty="0" err="1">
                <a:solidFill>
                  <a:srgbClr val="374151"/>
                </a:solidFill>
                <a:latin typeface="Noto Sans SC"/>
              </a:rPr>
              <a:t>到产品，复杂度迅速上升</a:t>
            </a:r>
            <a:r>
              <a:rPr lang="en-US" sz="3000" b="1" dirty="0">
                <a:solidFill>
                  <a:srgbClr val="374151"/>
                </a:solidFill>
                <a:latin typeface="Noto Sans SC"/>
              </a:rPr>
              <a:t> </a:t>
            </a:r>
            <a:endParaRPr lang="zh-C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03B80B7-63C1-8C09-A51D-7975E257E323}"/>
              </a:ext>
            </a:extLst>
          </p:cNvPr>
          <p:cNvSpPr/>
          <p:nvPr/>
        </p:nvSpPr>
        <p:spPr>
          <a:xfrm>
            <a:off x="762000" y="1751888"/>
            <a:ext cx="2603500" cy="3937000"/>
          </a:xfrm>
          <a:prstGeom prst="roundRect">
            <a:avLst>
              <a:gd name="adj" fmla="val 5853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A0AF9D8-47B3-6FA5-61FD-40641DC2DFAF}"/>
              </a:ext>
            </a:extLst>
          </p:cNvPr>
          <p:cNvSpPr/>
          <p:nvPr/>
        </p:nvSpPr>
        <p:spPr>
          <a:xfrm>
            <a:off x="762000" y="1751888"/>
            <a:ext cx="2603500" cy="76200"/>
          </a:xfrm>
          <a:prstGeom prst="roundRect">
            <a:avLst>
              <a:gd name="adj" fmla="val 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65F0D13A-E4C3-74F4-34B9-E2C606894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1000" y="2132888"/>
            <a:ext cx="812800" cy="8128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A930E74D-61E6-8DEF-46F5-385872677876}"/>
              </a:ext>
            </a:extLst>
          </p:cNvPr>
          <p:cNvSpPr/>
          <p:nvPr/>
        </p:nvSpPr>
        <p:spPr>
          <a:xfrm>
            <a:off x="889000" y="3148888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消息展示重复开发</a:t>
            </a:r>
            <a:endParaRPr lang="en-US"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707D53D-5740-077D-CDD9-EB4FCC006945}"/>
              </a:ext>
            </a:extLst>
          </p:cNvPr>
          <p:cNvSpPr/>
          <p:nvPr/>
        </p:nvSpPr>
        <p:spPr>
          <a:xfrm>
            <a:off x="952500" y="3910888"/>
            <a:ext cx="222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每个项目都要重新处理用户消息、AI 回复、长文本、Markdown、代码块等内容展示。</a:t>
            </a:r>
            <a:endParaRPr lang="en-US"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FF646DF7-AAB9-6A56-5E8B-194C6B0F2231}"/>
              </a:ext>
            </a:extLst>
          </p:cNvPr>
          <p:cNvSpPr/>
          <p:nvPr/>
        </p:nvSpPr>
        <p:spPr>
          <a:xfrm>
            <a:off x="3556000" y="1751888"/>
            <a:ext cx="2603500" cy="3937000"/>
          </a:xfrm>
          <a:prstGeom prst="roundRect">
            <a:avLst>
              <a:gd name="adj" fmla="val 5853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148DB178-28A4-83CA-3467-B58FF6CF3786}"/>
              </a:ext>
            </a:extLst>
          </p:cNvPr>
          <p:cNvSpPr/>
          <p:nvPr/>
        </p:nvSpPr>
        <p:spPr>
          <a:xfrm>
            <a:off x="3556000" y="1751888"/>
            <a:ext cx="2603500" cy="76200"/>
          </a:xfrm>
          <a:prstGeom prst="roundRect">
            <a:avLst>
              <a:gd name="adj" fmla="val 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673D6981-2D0D-4D2A-81FC-ADDD935A88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000" y="2132888"/>
            <a:ext cx="812800" cy="812800"/>
          </a:xfrm>
          <a:prstGeom prst="rect">
            <a:avLst/>
          </a:prstGeom>
        </p:spPr>
      </p:pic>
      <p:sp>
        <p:nvSpPr>
          <p:cNvPr id="12" name="AutoShape 12">
            <a:extLst>
              <a:ext uri="{FF2B5EF4-FFF2-40B4-BE49-F238E27FC236}">
                <a16:creationId xmlns:a16="http://schemas.microsoft.com/office/drawing/2014/main" id="{82527A7E-0C76-EC89-0C4F-56BF63572E70}"/>
              </a:ext>
            </a:extLst>
          </p:cNvPr>
          <p:cNvSpPr/>
          <p:nvPr/>
        </p:nvSpPr>
        <p:spPr>
          <a:xfrm>
            <a:off x="3683000" y="3148888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状态反馈分散处理</a:t>
            </a:r>
            <a:endParaRPr lang="en-US"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3A5227DC-2CC5-4EF7-DD1D-7ABF67703705}"/>
              </a:ext>
            </a:extLst>
          </p:cNvPr>
          <p:cNvSpPr/>
          <p:nvPr/>
        </p:nvSpPr>
        <p:spPr>
          <a:xfrm>
            <a:off x="3746500" y="3910888"/>
            <a:ext cx="222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生成中、停止生成、失败重试、空状态等状态，经常散落在不同页面和业务逻辑里。</a:t>
            </a:r>
            <a:endParaRPr lang="en-US"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FA273137-0648-2770-B8C9-A105A7DC1B33}"/>
              </a:ext>
            </a:extLst>
          </p:cNvPr>
          <p:cNvSpPr/>
          <p:nvPr/>
        </p:nvSpPr>
        <p:spPr>
          <a:xfrm>
            <a:off x="6350000" y="1751888"/>
            <a:ext cx="2603500" cy="3937000"/>
          </a:xfrm>
          <a:prstGeom prst="roundRect">
            <a:avLst>
              <a:gd name="adj" fmla="val 5853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B7AE769D-46CB-E730-F243-53D7C729042F}"/>
              </a:ext>
            </a:extLst>
          </p:cNvPr>
          <p:cNvSpPr/>
          <p:nvPr/>
        </p:nvSpPr>
        <p:spPr>
          <a:xfrm>
            <a:off x="6350000" y="1751888"/>
            <a:ext cx="2603500" cy="76200"/>
          </a:xfrm>
          <a:prstGeom prst="roundRect">
            <a:avLst>
              <a:gd name="adj" fmla="val 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F88617B7-348E-82B7-D05C-F49822B67E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9000" y="2132888"/>
            <a:ext cx="812800" cy="812800"/>
          </a:xfrm>
          <a:prstGeom prst="rect">
            <a:avLst/>
          </a:prstGeom>
        </p:spPr>
      </p:pic>
      <p:sp>
        <p:nvSpPr>
          <p:cNvPr id="17" name="AutoShape 17">
            <a:extLst>
              <a:ext uri="{FF2B5EF4-FFF2-40B4-BE49-F238E27FC236}">
                <a16:creationId xmlns:a16="http://schemas.microsoft.com/office/drawing/2014/main" id="{8C8D157D-3CF3-82B9-EDA4-02320AE57E37}"/>
              </a:ext>
            </a:extLst>
          </p:cNvPr>
          <p:cNvSpPr/>
          <p:nvPr/>
        </p:nvSpPr>
        <p:spPr>
          <a:xfrm>
            <a:off x="6477000" y="3148888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交互细节容易遗漏</a:t>
            </a:r>
            <a:endParaRPr lang="en-US"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D768C322-B774-A10E-4215-C67FD08E3523}"/>
              </a:ext>
            </a:extLst>
          </p:cNvPr>
          <p:cNvSpPr/>
          <p:nvPr/>
        </p:nvSpPr>
        <p:spPr>
          <a:xfrm>
            <a:off x="6540500" y="3910888"/>
            <a:ext cx="222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复制、重新生成、继续追问、错误提示、滚动定位等细节，看似小，但会直接影响体验。</a:t>
            </a:r>
            <a:endParaRPr lang="en-US" sz="1100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E4D7DEF4-119A-5380-0F37-D0388FD5798C}"/>
              </a:ext>
            </a:extLst>
          </p:cNvPr>
          <p:cNvSpPr/>
          <p:nvPr/>
        </p:nvSpPr>
        <p:spPr>
          <a:xfrm>
            <a:off x="9144000" y="1751888"/>
            <a:ext cx="2286000" cy="3937000"/>
          </a:xfrm>
          <a:prstGeom prst="roundRect">
            <a:avLst>
              <a:gd name="adj" fmla="val 6666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311DB826-4B00-95CB-F6A2-EE672CE9402A}"/>
              </a:ext>
            </a:extLst>
          </p:cNvPr>
          <p:cNvSpPr/>
          <p:nvPr/>
        </p:nvSpPr>
        <p:spPr>
          <a:xfrm>
            <a:off x="9144000" y="1751888"/>
            <a:ext cx="2286000" cy="76200"/>
          </a:xfrm>
          <a:prstGeom prst="roundRect">
            <a:avLst>
              <a:gd name="adj" fmla="val 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21" name="Picture 21">
            <a:extLst>
              <a:ext uri="{FF2B5EF4-FFF2-40B4-BE49-F238E27FC236}">
                <a16:creationId xmlns:a16="http://schemas.microsoft.com/office/drawing/2014/main" id="{BBEEFF2E-87D7-8837-9289-FD9518F1D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3600" y="2132888"/>
            <a:ext cx="812800" cy="812800"/>
          </a:xfrm>
          <a:prstGeom prst="rect">
            <a:avLst/>
          </a:prstGeom>
        </p:spPr>
      </p:pic>
      <p:sp>
        <p:nvSpPr>
          <p:cNvPr id="22" name="AutoShape 22">
            <a:extLst>
              <a:ext uri="{FF2B5EF4-FFF2-40B4-BE49-F238E27FC236}">
                <a16:creationId xmlns:a16="http://schemas.microsoft.com/office/drawing/2014/main" id="{F4875C0A-671E-A749-07C4-2F841B345542}"/>
              </a:ext>
            </a:extLst>
          </p:cNvPr>
          <p:cNvSpPr/>
          <p:nvPr/>
        </p:nvSpPr>
        <p:spPr>
          <a:xfrm>
            <a:off x="9207500" y="3148888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多场景复用成本高</a:t>
            </a:r>
            <a:endParaRPr lang="en-US" sz="1100"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E088B5E8-E5DF-7AD9-170C-C16026AFAE3F}"/>
              </a:ext>
            </a:extLst>
          </p:cNvPr>
          <p:cNvSpPr/>
          <p:nvPr/>
        </p:nvSpPr>
        <p:spPr>
          <a:xfrm>
            <a:off x="9271000" y="3910888"/>
            <a:ext cx="203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客服、知识库、代码助手等场景都需要相似结构，但业务一变，界面往往又要重新拼一遍。</a:t>
            </a:r>
            <a:endParaRPr lang="en-US" sz="1100"/>
          </a:p>
        </p:txBody>
      </p:sp>
      <p:sp>
        <p:nvSpPr>
          <p:cNvPr id="25" name="AutoShape 15">
            <a:extLst>
              <a:ext uri="{FF2B5EF4-FFF2-40B4-BE49-F238E27FC236}">
                <a16:creationId xmlns:a16="http://schemas.microsoft.com/office/drawing/2014/main" id="{D60783C4-1F7B-BBE7-59EB-763E9033CFC9}"/>
              </a:ext>
            </a:extLst>
          </p:cNvPr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2">
                    <a:lumMod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界面真正耗时的</a:t>
            </a:r>
            <a:r>
              <a:rPr 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往往不是第一个</a:t>
            </a:r>
            <a:r>
              <a:rPr 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Demo，</a:t>
            </a:r>
            <a:r>
              <a:rPr lang="zh-CN" alt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而是产品化前的细节补齐</a:t>
            </a:r>
            <a:r>
              <a:rPr 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5681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DE23E6CB-FADE-A520-B0C6-5288ACB8B38E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en-US" altLang="zh-CN" sz="3000" b="1" dirty="0" err="1">
                <a:solidFill>
                  <a:srgbClr val="374151"/>
                </a:solidFill>
                <a:latin typeface="Noto Sans SC"/>
              </a:rPr>
              <a:t>TinyRobot</a:t>
            </a:r>
            <a:r>
              <a:rPr lang="en-US" altLang="zh-CN" sz="3000" b="1" dirty="0">
                <a:solidFill>
                  <a:srgbClr val="374151"/>
                </a:solidFill>
                <a:latin typeface="Noto Sans SC"/>
              </a:rPr>
              <a:t> </a:t>
            </a:r>
            <a:r>
              <a:rPr lang="zh-CN" altLang="en-US" sz="3000" b="1" dirty="0">
                <a:solidFill>
                  <a:srgbClr val="374151"/>
                </a:solidFill>
                <a:latin typeface="Noto Sans SC"/>
              </a:rPr>
              <a:t>的定位与核心价值</a:t>
            </a:r>
            <a:endParaRPr lang="zh-CN" dirty="0"/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CAB60B55-6C57-1748-5D62-0678C9D1C4B1}"/>
              </a:ext>
            </a:extLst>
          </p:cNvPr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25000"/>
              </a:lnSpc>
              <a:defRPr/>
            </a:pP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TinyRobot</a:t>
            </a:r>
            <a:r>
              <a:rPr lang="en-US" altLang="zh-CN" sz="1600" b="1" dirty="0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 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不是单个聊天组件，而是一套支撑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 AI 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界面产品化的组件体系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。</a:t>
            </a:r>
            <a:endParaRPr lang="zh-CN" altLang="en-US" sz="1600" b="1" dirty="0">
              <a:solidFill>
                <a:schemeClr val="bg2">
                  <a:lumMod val="25000"/>
                </a:schemeClr>
              </a:solidFill>
              <a:latin typeface="Noto Sans SC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C9A984B1-EEA1-59CC-F6B8-D3B694B35F9A}"/>
              </a:ext>
            </a:extLst>
          </p:cNvPr>
          <p:cNvSpPr/>
          <p:nvPr/>
        </p:nvSpPr>
        <p:spPr>
          <a:xfrm>
            <a:off x="762000" y="139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476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 AI 应用的界面基础设施</a:t>
            </a:r>
            <a:endParaRPr lang="en-US" sz="1100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0CD35458-651D-4EF5-AC57-98C4BB7F6EC2}"/>
              </a:ext>
            </a:extLst>
          </p:cNvPr>
          <p:cNvSpPr/>
          <p:nvPr/>
        </p:nvSpPr>
        <p:spPr>
          <a:xfrm>
            <a:off x="762000" y="203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4B5563"/>
                </a:solidFill>
                <a:latin typeface="Noto Sans SC"/>
              </a:rPr>
              <a:t>通过组件库与</a:t>
            </a:r>
            <a:r>
              <a:rPr lang="en-US" sz="1600">
                <a:solidFill>
                  <a:srgbClr val="4B5563"/>
                </a:solidFill>
                <a:latin typeface="Noto Sans SC"/>
              </a:rPr>
              <a:t> Kit</a:t>
            </a:r>
            <a:r>
              <a:rPr lang="zh-CN" altLang="en-US" sz="1600">
                <a:solidFill>
                  <a:srgbClr val="4B5563"/>
                </a:solidFill>
                <a:latin typeface="Noto Sans SC"/>
              </a:rPr>
              <a:t>，统一解决</a:t>
            </a:r>
            <a:r>
              <a:rPr lang="en-US" sz="1600">
                <a:solidFill>
                  <a:srgbClr val="4B5563"/>
                </a:solidFill>
                <a:latin typeface="Noto Sans SC"/>
              </a:rPr>
              <a:t> AI</a:t>
            </a:r>
            <a:r>
              <a:rPr lang="en-US" altLang="zh-CN" sz="1600" dirty="0">
                <a:solidFill>
                  <a:srgbClr val="4B5563"/>
                </a:solidFill>
                <a:latin typeface="Noto Sans SC"/>
              </a:rPr>
              <a:t> </a:t>
            </a:r>
            <a:r>
              <a:rPr lang="zh-CN" altLang="en-US" sz="1600">
                <a:solidFill>
                  <a:srgbClr val="4B5563"/>
                </a:solidFill>
                <a:latin typeface="Noto Sans SC"/>
              </a:rPr>
              <a:t>界面的</a:t>
            </a:r>
            <a:r>
              <a:rPr lang="en-US" sz="1600">
                <a:solidFill>
                  <a:srgbClr val="4B5563"/>
                </a:solidFill>
                <a:latin typeface="Noto Sans SC"/>
              </a:rPr>
              <a:t> UI</a:t>
            </a:r>
            <a:r>
              <a:rPr lang="en-US" altLang="zh-CN" sz="1600" dirty="0">
                <a:solidFill>
                  <a:srgbClr val="4B5563"/>
                </a:solidFill>
                <a:latin typeface="Noto Sans SC"/>
              </a:rPr>
              <a:t> </a:t>
            </a:r>
            <a:r>
              <a:rPr lang="zh-CN" altLang="en-US" sz="1600">
                <a:solidFill>
                  <a:srgbClr val="4B5563"/>
                </a:solidFill>
                <a:latin typeface="Noto Sans SC"/>
              </a:rPr>
              <a:t>组合与数据管理问题</a:t>
            </a:r>
            <a:endParaRPr lang="zh-CN" altLang="en-US"/>
          </a:p>
        </p:txBody>
      </p:sp>
      <p:sp>
        <p:nvSpPr>
          <p:cNvPr id="30" name="AutoShape 9">
            <a:extLst>
              <a:ext uri="{FF2B5EF4-FFF2-40B4-BE49-F238E27FC236}">
                <a16:creationId xmlns:a16="http://schemas.microsoft.com/office/drawing/2014/main" id="{FE8DF3C0-D915-A635-52A1-BC4A68FB0395}"/>
              </a:ext>
            </a:extLst>
          </p:cNvPr>
          <p:cNvSpPr/>
          <p:nvPr/>
        </p:nvSpPr>
        <p:spPr>
          <a:xfrm>
            <a:off x="762000" y="377558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31" name="AutoShape 10">
            <a:extLst>
              <a:ext uri="{FF2B5EF4-FFF2-40B4-BE49-F238E27FC236}">
                <a16:creationId xmlns:a16="http://schemas.microsoft.com/office/drawing/2014/main" id="{72E5FBB5-88F4-9631-8A0E-9D7F41B60D6A}"/>
              </a:ext>
            </a:extLst>
          </p:cNvPr>
          <p:cNvSpPr/>
          <p:nvPr/>
        </p:nvSpPr>
        <p:spPr>
          <a:xfrm>
            <a:off x="762000" y="3775580"/>
            <a:ext cx="3302000" cy="76200"/>
          </a:xfrm>
          <a:prstGeom prst="roundRect">
            <a:avLst>
              <a:gd name="adj" fmla="val 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32" name="AutoShape 11">
            <a:extLst>
              <a:ext uri="{FF2B5EF4-FFF2-40B4-BE49-F238E27FC236}">
                <a16:creationId xmlns:a16="http://schemas.microsoft.com/office/drawing/2014/main" id="{28FCE536-77D0-E92B-2C34-03986CE72EE5}"/>
              </a:ext>
            </a:extLst>
          </p:cNvPr>
          <p:cNvSpPr/>
          <p:nvPr/>
        </p:nvSpPr>
        <p:spPr>
          <a:xfrm>
            <a:off x="1016000" y="409308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完整性</a:t>
            </a:r>
            <a:endParaRPr lang="en-US" sz="1100"/>
          </a:p>
        </p:txBody>
      </p:sp>
      <p:sp>
        <p:nvSpPr>
          <p:cNvPr id="33" name="AutoShape 12">
            <a:extLst>
              <a:ext uri="{FF2B5EF4-FFF2-40B4-BE49-F238E27FC236}">
                <a16:creationId xmlns:a16="http://schemas.microsoft.com/office/drawing/2014/main" id="{99D9CBE7-0BAE-039D-9860-23EDBD9730FC}"/>
              </a:ext>
            </a:extLst>
          </p:cNvPr>
          <p:cNvSpPr/>
          <p:nvPr/>
        </p:nvSpPr>
        <p:spPr>
          <a:xfrm>
            <a:off x="1016000" y="460108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 AI 应用中从内容呈现、用户输入到过程反馈的核心界面链路。</a:t>
            </a:r>
            <a:endParaRPr lang="en-US" sz="1100"/>
          </a:p>
        </p:txBody>
      </p:sp>
      <p:sp>
        <p:nvSpPr>
          <p:cNvPr id="34" name="AutoShape 13">
            <a:extLst>
              <a:ext uri="{FF2B5EF4-FFF2-40B4-BE49-F238E27FC236}">
                <a16:creationId xmlns:a16="http://schemas.microsoft.com/office/drawing/2014/main" id="{3A22C973-C332-FA7F-DB75-29574F0B6F8E}"/>
              </a:ext>
            </a:extLst>
          </p:cNvPr>
          <p:cNvSpPr/>
          <p:nvPr/>
        </p:nvSpPr>
        <p:spPr>
          <a:xfrm>
            <a:off x="4445000" y="377558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35" name="AutoShape 14">
            <a:extLst>
              <a:ext uri="{FF2B5EF4-FFF2-40B4-BE49-F238E27FC236}">
                <a16:creationId xmlns:a16="http://schemas.microsoft.com/office/drawing/2014/main" id="{B06403B4-8E9D-3D47-7113-C15A1F16A578}"/>
              </a:ext>
            </a:extLst>
          </p:cNvPr>
          <p:cNvSpPr/>
          <p:nvPr/>
        </p:nvSpPr>
        <p:spPr>
          <a:xfrm>
            <a:off x="4445000" y="3775580"/>
            <a:ext cx="3302000" cy="76200"/>
          </a:xfrm>
          <a:prstGeom prst="roundRect">
            <a:avLst>
              <a:gd name="adj" fmla="val 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36" name="AutoShape 15">
            <a:extLst>
              <a:ext uri="{FF2B5EF4-FFF2-40B4-BE49-F238E27FC236}">
                <a16:creationId xmlns:a16="http://schemas.microsoft.com/office/drawing/2014/main" id="{B2EA9F0A-3F9E-CA63-5530-7781F56F6E7D}"/>
              </a:ext>
            </a:extLst>
          </p:cNvPr>
          <p:cNvSpPr/>
          <p:nvPr/>
        </p:nvSpPr>
        <p:spPr>
          <a:xfrm>
            <a:off x="4699000" y="409308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一致性</a:t>
            </a:r>
            <a:endParaRPr lang="en-US" sz="1100"/>
          </a:p>
        </p:txBody>
      </p:sp>
      <p:sp>
        <p:nvSpPr>
          <p:cNvPr id="37" name="AutoShape 16">
            <a:extLst>
              <a:ext uri="{FF2B5EF4-FFF2-40B4-BE49-F238E27FC236}">
                <a16:creationId xmlns:a16="http://schemas.microsoft.com/office/drawing/2014/main" id="{87ED9EC5-4EAD-619E-4700-77C4CF8B0723}"/>
              </a:ext>
            </a:extLst>
          </p:cNvPr>
          <p:cNvSpPr/>
          <p:nvPr/>
        </p:nvSpPr>
        <p:spPr>
          <a:xfrm>
            <a:off x="4699000" y="460108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统一消息、操作、状态反馈等界面体验，减少不同页面之间的体验差异。</a:t>
            </a:r>
            <a:endParaRPr lang="en-US" sz="1100"/>
          </a:p>
        </p:txBody>
      </p:sp>
      <p:sp>
        <p:nvSpPr>
          <p:cNvPr id="38" name="AutoShape 17">
            <a:extLst>
              <a:ext uri="{FF2B5EF4-FFF2-40B4-BE49-F238E27FC236}">
                <a16:creationId xmlns:a16="http://schemas.microsoft.com/office/drawing/2014/main" id="{AC6243C3-119C-BDED-5D51-B0FE004E1F3E}"/>
              </a:ext>
            </a:extLst>
          </p:cNvPr>
          <p:cNvSpPr/>
          <p:nvPr/>
        </p:nvSpPr>
        <p:spPr>
          <a:xfrm>
            <a:off x="8128000" y="377558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39" name="AutoShape 18">
            <a:extLst>
              <a:ext uri="{FF2B5EF4-FFF2-40B4-BE49-F238E27FC236}">
                <a16:creationId xmlns:a16="http://schemas.microsoft.com/office/drawing/2014/main" id="{5CD7F734-8B67-EDAD-83F5-39DABEDF94FB}"/>
              </a:ext>
            </a:extLst>
          </p:cNvPr>
          <p:cNvSpPr/>
          <p:nvPr/>
        </p:nvSpPr>
        <p:spPr>
          <a:xfrm>
            <a:off x="8128000" y="3775580"/>
            <a:ext cx="3302000" cy="76200"/>
          </a:xfrm>
          <a:prstGeom prst="roundRect">
            <a:avLst>
              <a:gd name="adj" fmla="val 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40" name="AutoShape 19">
            <a:extLst>
              <a:ext uri="{FF2B5EF4-FFF2-40B4-BE49-F238E27FC236}">
                <a16:creationId xmlns:a16="http://schemas.microsoft.com/office/drawing/2014/main" id="{0AE8E544-3B13-B5D8-24AF-9EFE08E7B857}"/>
              </a:ext>
            </a:extLst>
          </p:cNvPr>
          <p:cNvSpPr/>
          <p:nvPr/>
        </p:nvSpPr>
        <p:spPr>
          <a:xfrm>
            <a:off x="8382000" y="409308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扩展性</a:t>
            </a:r>
            <a:endParaRPr lang="en-US" sz="1100"/>
          </a:p>
        </p:txBody>
      </p:sp>
      <p:sp>
        <p:nvSpPr>
          <p:cNvPr id="41" name="AutoShape 20">
            <a:extLst>
              <a:ext uri="{FF2B5EF4-FFF2-40B4-BE49-F238E27FC236}">
                <a16:creationId xmlns:a16="http://schemas.microsoft.com/office/drawing/2014/main" id="{B5DAB352-0AC7-005A-C7E2-34E2349E4E11}"/>
              </a:ext>
            </a:extLst>
          </p:cNvPr>
          <p:cNvSpPr/>
          <p:nvPr/>
        </p:nvSpPr>
        <p:spPr>
          <a:xfrm>
            <a:off x="8382000" y="460108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通过组件组合适配客服助手、知识库问答、代码助手等不同 AI 应用场景。</a:t>
            </a:r>
            <a:endParaRPr lang="en-US" sz="1100"/>
          </a:p>
        </p:txBody>
      </p:sp>
      <p:sp>
        <p:nvSpPr>
          <p:cNvPr id="42" name="AutoShape 3">
            <a:extLst>
              <a:ext uri="{FF2B5EF4-FFF2-40B4-BE49-F238E27FC236}">
                <a16:creationId xmlns:a16="http://schemas.microsoft.com/office/drawing/2014/main" id="{C634742A-FFED-4450-4CEB-6AA9295EEE1A}"/>
              </a:ext>
            </a:extLst>
          </p:cNvPr>
          <p:cNvSpPr/>
          <p:nvPr/>
        </p:nvSpPr>
        <p:spPr>
          <a:xfrm>
            <a:off x="762000" y="139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476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 AI 应用的界面基础设施</a:t>
            </a:r>
            <a:endParaRPr lang="en-US" sz="1100"/>
          </a:p>
        </p:txBody>
      </p:sp>
      <p:sp>
        <p:nvSpPr>
          <p:cNvPr id="48" name="AutoShape 9">
            <a:extLst>
              <a:ext uri="{FF2B5EF4-FFF2-40B4-BE49-F238E27FC236}">
                <a16:creationId xmlns:a16="http://schemas.microsoft.com/office/drawing/2014/main" id="{B09199CE-7101-8F5D-D871-4C7B0B37C642}"/>
              </a:ext>
            </a:extLst>
          </p:cNvPr>
          <p:cNvSpPr/>
          <p:nvPr/>
        </p:nvSpPr>
        <p:spPr>
          <a:xfrm>
            <a:off x="762000" y="377558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49" name="AutoShape 10">
            <a:extLst>
              <a:ext uri="{FF2B5EF4-FFF2-40B4-BE49-F238E27FC236}">
                <a16:creationId xmlns:a16="http://schemas.microsoft.com/office/drawing/2014/main" id="{7D6E8E31-1D8C-15A3-78AB-DC979EB9147F}"/>
              </a:ext>
            </a:extLst>
          </p:cNvPr>
          <p:cNvSpPr/>
          <p:nvPr/>
        </p:nvSpPr>
        <p:spPr>
          <a:xfrm>
            <a:off x="762000" y="3775580"/>
            <a:ext cx="3302000" cy="76200"/>
          </a:xfrm>
          <a:prstGeom prst="roundRect">
            <a:avLst>
              <a:gd name="adj" fmla="val 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50" name="AutoShape 11">
            <a:extLst>
              <a:ext uri="{FF2B5EF4-FFF2-40B4-BE49-F238E27FC236}">
                <a16:creationId xmlns:a16="http://schemas.microsoft.com/office/drawing/2014/main" id="{F14AB278-BE4D-7557-B48D-3AFFC07C09C4}"/>
              </a:ext>
            </a:extLst>
          </p:cNvPr>
          <p:cNvSpPr/>
          <p:nvPr/>
        </p:nvSpPr>
        <p:spPr>
          <a:xfrm>
            <a:off x="1016000" y="409308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完整性</a:t>
            </a:r>
            <a:endParaRPr lang="en-US" sz="1100"/>
          </a:p>
        </p:txBody>
      </p:sp>
      <p:sp>
        <p:nvSpPr>
          <p:cNvPr id="51" name="AutoShape 12">
            <a:extLst>
              <a:ext uri="{FF2B5EF4-FFF2-40B4-BE49-F238E27FC236}">
                <a16:creationId xmlns:a16="http://schemas.microsoft.com/office/drawing/2014/main" id="{BDF2C722-D68B-99D3-F990-F0231526940C}"/>
              </a:ext>
            </a:extLst>
          </p:cNvPr>
          <p:cNvSpPr/>
          <p:nvPr/>
        </p:nvSpPr>
        <p:spPr>
          <a:xfrm>
            <a:off x="1016000" y="460108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 AI 应用中从内容呈现、用户输入到过程反馈的核心界面链路。</a:t>
            </a:r>
            <a:endParaRPr lang="en-US" sz="1100"/>
          </a:p>
        </p:txBody>
      </p:sp>
      <p:sp>
        <p:nvSpPr>
          <p:cNvPr id="52" name="AutoShape 13">
            <a:extLst>
              <a:ext uri="{FF2B5EF4-FFF2-40B4-BE49-F238E27FC236}">
                <a16:creationId xmlns:a16="http://schemas.microsoft.com/office/drawing/2014/main" id="{3A553D8E-1F09-BCED-BC20-549552E89819}"/>
              </a:ext>
            </a:extLst>
          </p:cNvPr>
          <p:cNvSpPr/>
          <p:nvPr/>
        </p:nvSpPr>
        <p:spPr>
          <a:xfrm>
            <a:off x="4445000" y="377558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53" name="AutoShape 14">
            <a:extLst>
              <a:ext uri="{FF2B5EF4-FFF2-40B4-BE49-F238E27FC236}">
                <a16:creationId xmlns:a16="http://schemas.microsoft.com/office/drawing/2014/main" id="{E89883BE-DCE4-8DA3-737D-0E0EFF6D83DA}"/>
              </a:ext>
            </a:extLst>
          </p:cNvPr>
          <p:cNvSpPr/>
          <p:nvPr/>
        </p:nvSpPr>
        <p:spPr>
          <a:xfrm>
            <a:off x="4445000" y="3775580"/>
            <a:ext cx="3302000" cy="76200"/>
          </a:xfrm>
          <a:prstGeom prst="roundRect">
            <a:avLst>
              <a:gd name="adj" fmla="val 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54" name="AutoShape 15">
            <a:extLst>
              <a:ext uri="{FF2B5EF4-FFF2-40B4-BE49-F238E27FC236}">
                <a16:creationId xmlns:a16="http://schemas.microsoft.com/office/drawing/2014/main" id="{BE88A680-6642-A4A6-D8F8-B536D0DFCEE9}"/>
              </a:ext>
            </a:extLst>
          </p:cNvPr>
          <p:cNvSpPr/>
          <p:nvPr/>
        </p:nvSpPr>
        <p:spPr>
          <a:xfrm>
            <a:off x="4699000" y="409308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一致性</a:t>
            </a:r>
            <a:endParaRPr lang="en-US" sz="1100"/>
          </a:p>
        </p:txBody>
      </p:sp>
      <p:sp>
        <p:nvSpPr>
          <p:cNvPr id="55" name="AutoShape 16">
            <a:extLst>
              <a:ext uri="{FF2B5EF4-FFF2-40B4-BE49-F238E27FC236}">
                <a16:creationId xmlns:a16="http://schemas.microsoft.com/office/drawing/2014/main" id="{0FC32FC8-78C4-4147-19F8-DC9A1BC02961}"/>
              </a:ext>
            </a:extLst>
          </p:cNvPr>
          <p:cNvSpPr/>
          <p:nvPr/>
        </p:nvSpPr>
        <p:spPr>
          <a:xfrm>
            <a:off x="4699000" y="460108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统一消息、操作、状态反馈等界面体验，减少不同页面之间的体验差异。</a:t>
            </a:r>
            <a:endParaRPr lang="en-US" sz="1100"/>
          </a:p>
        </p:txBody>
      </p:sp>
      <p:sp>
        <p:nvSpPr>
          <p:cNvPr id="56" name="AutoShape 17">
            <a:extLst>
              <a:ext uri="{FF2B5EF4-FFF2-40B4-BE49-F238E27FC236}">
                <a16:creationId xmlns:a16="http://schemas.microsoft.com/office/drawing/2014/main" id="{F7635573-1775-D210-1C9D-F24EAC41207A}"/>
              </a:ext>
            </a:extLst>
          </p:cNvPr>
          <p:cNvSpPr/>
          <p:nvPr/>
        </p:nvSpPr>
        <p:spPr>
          <a:xfrm>
            <a:off x="8128000" y="377558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57" name="AutoShape 18">
            <a:extLst>
              <a:ext uri="{FF2B5EF4-FFF2-40B4-BE49-F238E27FC236}">
                <a16:creationId xmlns:a16="http://schemas.microsoft.com/office/drawing/2014/main" id="{AF346341-3B9C-9D2F-CBC0-27EEE1DA0BAD}"/>
              </a:ext>
            </a:extLst>
          </p:cNvPr>
          <p:cNvSpPr/>
          <p:nvPr/>
        </p:nvSpPr>
        <p:spPr>
          <a:xfrm>
            <a:off x="8128000" y="3775580"/>
            <a:ext cx="3302000" cy="76200"/>
          </a:xfrm>
          <a:prstGeom prst="roundRect">
            <a:avLst>
              <a:gd name="adj" fmla="val 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58" name="AutoShape 19">
            <a:extLst>
              <a:ext uri="{FF2B5EF4-FFF2-40B4-BE49-F238E27FC236}">
                <a16:creationId xmlns:a16="http://schemas.microsoft.com/office/drawing/2014/main" id="{988C46AF-715D-8963-7320-FE13560DEABA}"/>
              </a:ext>
            </a:extLst>
          </p:cNvPr>
          <p:cNvSpPr/>
          <p:nvPr/>
        </p:nvSpPr>
        <p:spPr>
          <a:xfrm>
            <a:off x="8382000" y="409308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扩展性</a:t>
            </a:r>
            <a:endParaRPr lang="en-US" sz="1100"/>
          </a:p>
        </p:txBody>
      </p:sp>
      <p:sp>
        <p:nvSpPr>
          <p:cNvPr id="59" name="AutoShape 20">
            <a:extLst>
              <a:ext uri="{FF2B5EF4-FFF2-40B4-BE49-F238E27FC236}">
                <a16:creationId xmlns:a16="http://schemas.microsoft.com/office/drawing/2014/main" id="{AC50B554-13AC-40E4-3FFE-F76084A8A214}"/>
              </a:ext>
            </a:extLst>
          </p:cNvPr>
          <p:cNvSpPr/>
          <p:nvPr/>
        </p:nvSpPr>
        <p:spPr>
          <a:xfrm>
            <a:off x="8382000" y="460108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通过组件组合适配客服助手、知识库问答、代码助手等不同 AI 应用场景。</a:t>
            </a:r>
            <a:endParaRPr lang="en-US" sz="110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35D7E54-5807-4B43-BA09-2B75F001BF22}"/>
              </a:ext>
            </a:extLst>
          </p:cNvPr>
          <p:cNvSpPr txBox="1"/>
          <p:nvPr/>
        </p:nvSpPr>
        <p:spPr>
          <a:xfrm>
            <a:off x="762000" y="2553056"/>
            <a:ext cx="25210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</a:rPr>
              <a:t>组件库：负责</a:t>
            </a:r>
            <a:r>
              <a:rPr lang="en-US" b="1" dirty="0">
                <a:solidFill>
                  <a:srgbClr val="1E40AF"/>
                </a:solidFill>
                <a:latin typeface="Noto Sans SC"/>
                <a:ea typeface="Noto Sans SC"/>
                <a:cs typeface="Noto Sans SC"/>
              </a:rPr>
              <a:t> UI </a:t>
            </a:r>
            <a:r>
              <a:rPr lang="en-US" b="1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</a:rPr>
              <a:t>组合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012A576-D975-09AC-A78C-599787EB6014}"/>
              </a:ext>
            </a:extLst>
          </p:cNvPr>
          <p:cNvSpPr txBox="1"/>
          <p:nvPr/>
        </p:nvSpPr>
        <p:spPr>
          <a:xfrm>
            <a:off x="6893608" y="2553056"/>
            <a:ext cx="22290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</a:rPr>
              <a:t>Kit：负责数据管理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D961AB1-A0E4-21B5-15F3-1BF6278FB8D5}"/>
              </a:ext>
            </a:extLst>
          </p:cNvPr>
          <p:cNvSpPr txBox="1"/>
          <p:nvPr/>
        </p:nvSpPr>
        <p:spPr>
          <a:xfrm>
            <a:off x="762000" y="3065804"/>
            <a:ext cx="593220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💬 </a:t>
            </a:r>
            <a:r>
              <a:rPr lang="en-US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消息展示</a:t>
            </a:r>
            <a:r>
              <a:rPr lang="en-US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 | ⌨️ </a:t>
            </a:r>
            <a:r>
              <a:rPr lang="en-US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输入与操作</a:t>
            </a:r>
            <a:r>
              <a:rPr lang="en-US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 | 📊 </a:t>
            </a:r>
            <a:r>
              <a:rPr lang="en-US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状态与反馈</a:t>
            </a:r>
            <a:r>
              <a:rPr lang="en-US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 | 🧩 </a:t>
            </a:r>
            <a:r>
              <a:rPr lang="en-US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场景化组合</a:t>
            </a:r>
            <a:endParaRPr lang="en-US" sz="1600">
              <a:solidFill>
                <a:srgbClr val="4B556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C1B501F-70FC-A1D1-1BCF-4B48D5901B47}"/>
              </a:ext>
            </a:extLst>
          </p:cNvPr>
          <p:cNvSpPr txBox="1"/>
          <p:nvPr/>
        </p:nvSpPr>
        <p:spPr>
          <a:xfrm>
            <a:off x="6893607" y="3065804"/>
            <a:ext cx="45363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🗃️ </a:t>
            </a:r>
            <a:r>
              <a:rPr lang="en-US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消息数据</a:t>
            </a:r>
            <a:r>
              <a:rPr 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 | 📝 </a:t>
            </a:r>
            <a:r>
              <a:rPr lang="en-US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会话数据</a:t>
            </a:r>
            <a:r>
              <a:rPr 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 | 🚦 </a:t>
            </a:r>
            <a:r>
              <a:rPr lang="en-US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请求状态</a:t>
            </a:r>
            <a:r>
              <a:rPr 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7787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9652000" y="2286000"/>
            <a:ext cx="1016000" cy="1016000"/>
          </a:xfrm>
          <a:prstGeom prst="roundRect">
            <a:avLst>
              <a:gd name="adj" fmla="val 0"/>
            </a:avLst>
          </a:prstGeom>
          <a:solidFill>
            <a:srgbClr val="1476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0" y="3810000"/>
            <a:ext cx="1524000" cy="1524000"/>
          </a:xfrm>
          <a:prstGeom prst="ellipse">
            <a:avLst/>
          </a:prstGeom>
          <a:solidFill>
            <a:srgbClr val="1476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8" name="AutoShape 3">
            <a:extLst>
              <a:ext uri="{FF2B5EF4-FFF2-40B4-BE49-F238E27FC236}">
                <a16:creationId xmlns:a16="http://schemas.microsoft.com/office/drawing/2014/main" id="{CA59235B-93EB-35D0-ABDA-1D95B6BC0010}"/>
              </a:ext>
            </a:extLst>
          </p:cNvPr>
          <p:cNvSpPr/>
          <p:nvPr/>
        </p:nvSpPr>
        <p:spPr>
          <a:xfrm>
            <a:off x="1571885" y="830705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>
                <a:solidFill>
                  <a:srgbClr val="1476FF"/>
                </a:solidFill>
                <a:latin typeface="Noto Sans SC"/>
                <a:sym typeface="Noto Sans SC"/>
              </a:rPr>
              <a:t>02</a:t>
            </a:r>
            <a:endParaRPr lang="en-US" sz="9600"/>
          </a:p>
        </p:txBody>
      </p:sp>
      <p:sp>
        <p:nvSpPr>
          <p:cNvPr id="40" name="AutoShape 4">
            <a:extLst>
              <a:ext uri="{FF2B5EF4-FFF2-40B4-BE49-F238E27FC236}">
                <a16:creationId xmlns:a16="http://schemas.microsoft.com/office/drawing/2014/main" id="{1899F2A5-BA20-9E5A-EF47-1BAF4DEC629F}"/>
              </a:ext>
            </a:extLst>
          </p:cNvPr>
          <p:cNvSpPr/>
          <p:nvPr/>
        </p:nvSpPr>
        <p:spPr>
          <a:xfrm>
            <a:off x="1571885" y="3237459"/>
            <a:ext cx="635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4000" b="1" dirty="0" err="1">
                <a:solidFill>
                  <a:srgbClr val="111827"/>
                </a:solidFill>
                <a:latin typeface="Noto Sans SC"/>
                <a:ea typeface="宋体"/>
                <a:sym typeface="Noto Sans SC"/>
              </a:rPr>
              <a:t>成品展示</a:t>
            </a:r>
            <a:endParaRPr lang="en-US" altLang="zh-CN" sz="4000" b="1">
              <a:solidFill>
                <a:srgbClr val="111827"/>
              </a:solidFill>
              <a:latin typeface="Noto Sans SC"/>
              <a:ea typeface="宋体"/>
            </a:endParaRPr>
          </a:p>
        </p:txBody>
      </p:sp>
      <p:sp>
        <p:nvSpPr>
          <p:cNvPr id="42" name="AutoShape 5">
            <a:extLst>
              <a:ext uri="{FF2B5EF4-FFF2-40B4-BE49-F238E27FC236}">
                <a16:creationId xmlns:a16="http://schemas.microsoft.com/office/drawing/2014/main" id="{11DA1325-B1EB-BFCC-3FE8-FEA5E3ABF9DA}"/>
              </a:ext>
            </a:extLst>
          </p:cNvPr>
          <p:cNvSpPr/>
          <p:nvPr/>
        </p:nvSpPr>
        <p:spPr>
          <a:xfrm>
            <a:off x="1571885" y="4253459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2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一个完整</a:t>
            </a:r>
            <a:r>
              <a:rPr lang="en-US" sz="2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22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助手界面</a:t>
            </a:r>
            <a:endParaRPr lang="zh-CN" altLang="en-US" dirty="0" err="1"/>
          </a:p>
        </p:txBody>
      </p:sp>
      <p:sp>
        <p:nvSpPr>
          <p:cNvPr id="44" name="AutoShape 6">
            <a:extLst>
              <a:ext uri="{FF2B5EF4-FFF2-40B4-BE49-F238E27FC236}">
                <a16:creationId xmlns:a16="http://schemas.microsoft.com/office/drawing/2014/main" id="{13C10E97-6E11-721C-5A2E-6EC1B1ADDC49}"/>
              </a:ext>
            </a:extLst>
          </p:cNvPr>
          <p:cNvSpPr/>
          <p:nvPr/>
        </p:nvSpPr>
        <p:spPr>
          <a:xfrm>
            <a:off x="1571885" y="5015459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6955FFB4-A44E-47F1-DFC6-8092A28B3CBD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sz="3000" b="1">
                <a:solidFill>
                  <a:srgbClr val="374151"/>
                </a:solidFill>
              </a:rPr>
              <a:t>完整</a:t>
            </a:r>
            <a:r>
              <a:rPr lang="zh-CN" sz="3000" b="1">
                <a:solidFill>
                  <a:srgbClr val="374151"/>
                </a:solidFill>
              </a:rPr>
              <a:t>客服助手界面总览</a:t>
            </a:r>
            <a:endParaRPr lang="zh-CN"/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110A3E01-25BD-5D93-370E-FFF50FA81086}"/>
              </a:ext>
            </a:extLst>
          </p:cNvPr>
          <p:cNvSpPr/>
          <p:nvPr/>
        </p:nvSpPr>
        <p:spPr>
          <a:xfrm>
            <a:off x="5462186" y="5969000"/>
            <a:ext cx="5967814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25000"/>
              </a:lnSpc>
              <a:defRPr/>
            </a:pPr>
            <a:r>
              <a:rPr lang="zh-CN" alt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完整客界面</a:t>
            </a:r>
            <a:r>
              <a:rPr 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 =</a:t>
            </a:r>
            <a:r>
              <a:rPr lang="en-US" altLang="zh-CN" sz="1600" b="1" dirty="0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 </a:t>
            </a:r>
            <a:r>
              <a:rPr lang="zh-CN" alt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历史对话</a:t>
            </a:r>
            <a:r>
              <a:rPr lang="en-US" altLang="zh-CN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 + </a:t>
            </a:r>
            <a:r>
              <a:rPr lang="zh-CN" alt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消息流</a:t>
            </a:r>
            <a:r>
              <a:rPr lang="en-US" altLang="zh-CN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 + </a:t>
            </a:r>
            <a:r>
              <a:rPr lang="zh-CN" alt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输入操作</a:t>
            </a:r>
            <a:r>
              <a:rPr 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 +</a:t>
            </a:r>
            <a:r>
              <a:rPr lang="en-US" altLang="zh-CN" sz="1600" b="1" dirty="0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 </a:t>
            </a:r>
            <a:r>
              <a:rPr lang="zh-CN" alt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状态反馈</a:t>
            </a:r>
            <a:r>
              <a:rPr lang="en-US" altLang="zh-CN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 + </a:t>
            </a:r>
            <a:r>
              <a:rPr lang="zh-CN" alt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推荐追问</a:t>
            </a:r>
            <a:endParaRPr lang="en-US" sz="1600" b="1">
              <a:solidFill>
                <a:schemeClr val="bg2">
                  <a:lumMod val="25000"/>
                </a:schemeClr>
              </a:solidFill>
              <a:latin typeface="Noto Sans SC"/>
              <a:sym typeface="Noto Sans SC"/>
            </a:endParaRPr>
          </a:p>
          <a:p>
            <a:pPr algn="ctr">
              <a:lnSpc>
                <a:spcPct val="125000"/>
              </a:lnSpc>
              <a:defRPr/>
            </a:pPr>
            <a:endParaRPr lang="en-US" altLang="zh-CN" sz="1600" b="1" dirty="0">
              <a:solidFill>
                <a:schemeClr val="bg2">
                  <a:lumMod val="25000"/>
                </a:schemeClr>
              </a:solidFill>
              <a:latin typeface="Noto Sans SC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3CB392D-EAA8-147A-160E-459BFA79E7B0}"/>
              </a:ext>
            </a:extLst>
          </p:cNvPr>
          <p:cNvSpPr/>
          <p:nvPr/>
        </p:nvSpPr>
        <p:spPr>
          <a:xfrm>
            <a:off x="762000" y="1397000"/>
            <a:ext cx="4318000" cy="4826000"/>
          </a:xfrm>
          <a:prstGeom prst="roundRect">
            <a:avLst>
              <a:gd name="adj" fmla="val 3529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客服助手完整界面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（历史/消息/操作/反馈/推荐）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51DC322C-275C-BB13-882D-5D86A50C179F}"/>
              </a:ext>
            </a:extLst>
          </p:cNvPr>
          <p:cNvSpPr/>
          <p:nvPr/>
        </p:nvSpPr>
        <p:spPr>
          <a:xfrm>
            <a:off x="5461000" y="1397000"/>
            <a:ext cx="2921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chemeClr val="bg2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400" b="1" i="0" u="none" strike="noStrike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历史对话</a:t>
            </a:r>
            <a:endParaRPr lang="en-US" sz="1100" dirty="0" err="1"/>
          </a:p>
          <a:p>
            <a:pPr marL="0" indent="0" algn="ctr">
              <a:lnSpc>
                <a:spcPct val="125000"/>
              </a:lnSpc>
            </a:pPr>
            <a:r>
              <a:rPr lang="zh-CN" altLang="en-US" sz="12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新建会话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2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历史会话列表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2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当前会话高亮</a:t>
            </a:r>
            <a:endParaRPr lang="en-US" sz="12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F526255-8D70-D2F1-37E7-B595B7A880F1}"/>
              </a:ext>
            </a:extLst>
          </p:cNvPr>
          <p:cNvSpPr/>
          <p:nvPr/>
        </p:nvSpPr>
        <p:spPr>
          <a:xfrm>
            <a:off x="8636000" y="1397000"/>
            <a:ext cx="2921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chemeClr val="bg2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400" b="1" i="0" u="none" strike="noStrike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消息流</a:t>
            </a:r>
            <a:endParaRPr lang="en-US" sz="1100" dirty="0" err="1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用户问题、助手回复</a:t>
            </a:r>
            <a:r>
              <a:rPr lang="en-US" sz="12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2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分段说明</a:t>
            </a:r>
            <a:r>
              <a:rPr lang="en-US" sz="12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2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建议</a:t>
            </a:r>
            <a:endParaRPr lang="en-US" sz="12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726D096F-DE59-3CCE-CC77-A17153918125}"/>
              </a:ext>
            </a:extLst>
          </p:cNvPr>
          <p:cNvSpPr/>
          <p:nvPr/>
        </p:nvSpPr>
        <p:spPr>
          <a:xfrm>
            <a:off x="5461000" y="2540000"/>
            <a:ext cx="2921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chemeClr val="bg2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03 输入与操作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多行输入框、发送/停止、快捷入口</a:t>
            </a: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29C7C012-F8D0-B773-0DB1-938F0A2053FC}"/>
              </a:ext>
            </a:extLst>
          </p:cNvPr>
          <p:cNvSpPr/>
          <p:nvPr/>
        </p:nvSpPr>
        <p:spPr>
          <a:xfrm>
            <a:off x="8636000" y="2540000"/>
            <a:ext cx="2921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chemeClr val="bg2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04 状态与反馈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生成中/处理中、失败重试/操作反馈</a:t>
            </a:r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83A6420C-A53A-0099-325A-E846F08AF829}"/>
              </a:ext>
            </a:extLst>
          </p:cNvPr>
          <p:cNvSpPr/>
          <p:nvPr/>
        </p:nvSpPr>
        <p:spPr>
          <a:xfrm>
            <a:off x="5461000" y="3683000"/>
            <a:ext cx="6096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chemeClr val="bg2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05 推荐追问：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常见后续问题、一键继续咨询、引导下一步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5331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9144000" y="2286000"/>
            <a:ext cx="1524000" cy="1524000"/>
          </a:xfrm>
          <a:prstGeom prst="ellipse">
            <a:avLst/>
          </a:prstGeom>
          <a:solidFill>
            <a:srgbClr val="1476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906000" y="4191000"/>
            <a:ext cx="762000" cy="762000"/>
          </a:xfrm>
          <a:prstGeom prst="roundRect">
            <a:avLst>
              <a:gd name="adj" fmla="val 16666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0" y="5207000"/>
            <a:ext cx="381000" cy="381000"/>
          </a:xfrm>
          <a:prstGeom prst="roundRect">
            <a:avLst>
              <a:gd name="adj" fmla="val 0"/>
            </a:avLst>
          </a:prstGeom>
          <a:solidFill>
            <a:srgbClr val="1476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E7AC0E21-F3E4-5E98-AA49-51DB15BE1155}"/>
              </a:ext>
            </a:extLst>
          </p:cNvPr>
          <p:cNvSpPr/>
          <p:nvPr/>
        </p:nvSpPr>
        <p:spPr>
          <a:xfrm>
            <a:off x="1571885" y="830705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>
                <a:solidFill>
                  <a:srgbClr val="1476FF"/>
                </a:solidFill>
                <a:latin typeface="Noto Sans SC"/>
                <a:sym typeface="Noto Sans SC"/>
              </a:rPr>
              <a:t>03</a:t>
            </a:r>
            <a:endParaRPr lang="en-US" sz="9600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9026672C-353D-7D31-9AF8-DE4838FD36BF}"/>
              </a:ext>
            </a:extLst>
          </p:cNvPr>
          <p:cNvSpPr/>
          <p:nvPr/>
        </p:nvSpPr>
        <p:spPr>
          <a:xfrm>
            <a:off x="1571885" y="3237459"/>
            <a:ext cx="635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4000" b="1">
                <a:solidFill>
                  <a:srgbClr val="111827"/>
                </a:solidFill>
                <a:latin typeface="Noto Sans SC"/>
                <a:sym typeface="Noto Sans SC"/>
              </a:rPr>
              <a:t>组件实践</a:t>
            </a:r>
            <a:endParaRPr lang="en-US" altLang="zh-CN" sz="4000" b="1">
              <a:solidFill>
                <a:srgbClr val="111827"/>
              </a:solidFill>
              <a:latin typeface="Noto Sans SC"/>
            </a:endParaRPr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1660B4AB-4154-32EE-59B7-A3F9C852A9DD}"/>
              </a:ext>
            </a:extLst>
          </p:cNvPr>
          <p:cNvSpPr/>
          <p:nvPr/>
        </p:nvSpPr>
        <p:spPr>
          <a:xfrm>
            <a:off x="1571885" y="4253459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从零搭建</a:t>
            </a:r>
            <a:r>
              <a:rPr lang="en-US" sz="2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2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助手页面</a:t>
            </a:r>
            <a:endParaRPr lang="zh-CN" altLang="en-US"/>
          </a:p>
        </p:txBody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27EF1B95-7B3A-279E-76B7-7035877A90A4}"/>
              </a:ext>
            </a:extLst>
          </p:cNvPr>
          <p:cNvSpPr/>
          <p:nvPr/>
        </p:nvSpPr>
        <p:spPr>
          <a:xfrm>
            <a:off x="1571885" y="5015459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>
            <a:extLst>
              <a:ext uri="{FF2B5EF4-FFF2-40B4-BE49-F238E27FC236}">
                <a16:creationId xmlns:a16="http://schemas.microsoft.com/office/drawing/2014/main" id="{31251F20-FCD6-F5EA-240F-AD59AC081BB5}"/>
              </a:ext>
            </a:extLst>
          </p:cNvPr>
          <p:cNvSpPr/>
          <p:nvPr/>
        </p:nvSpPr>
        <p:spPr>
          <a:xfrm>
            <a:off x="1016000" y="2732280"/>
            <a:ext cx="2286000" cy="2032000"/>
          </a:xfrm>
          <a:prstGeom prst="roundRect">
            <a:avLst>
              <a:gd name="adj" fmla="val 625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chemeClr val="bg2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76FF"/>
                </a:solidFill>
                <a:latin typeface="Noto Sans SC"/>
                <a:ea typeface="Noto Sans SC"/>
                <a:cs typeface="Noto Sans SC"/>
                <a:sym typeface="Noto Sans SC"/>
              </a:rPr>
              <a:t>步骤1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页面布局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搭建整体页面容器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划分历史会话区、消息区、输入区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0A0D1D41-7942-A170-CCD0-9C8E64034768}"/>
              </a:ext>
            </a:extLst>
          </p:cNvPr>
          <p:cNvSpPr/>
          <p:nvPr/>
        </p:nvSpPr>
        <p:spPr>
          <a:xfrm>
            <a:off x="3683000" y="2732280"/>
            <a:ext cx="2286000" cy="2032000"/>
          </a:xfrm>
          <a:prstGeom prst="roundRect">
            <a:avLst>
              <a:gd name="adj" fmla="val 625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chemeClr val="bg2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76FF"/>
                </a:solidFill>
                <a:latin typeface="Noto Sans SC"/>
                <a:ea typeface="Noto Sans SC"/>
                <a:cs typeface="Noto Sans SC"/>
                <a:sym typeface="Noto Sans SC"/>
              </a:rPr>
              <a:t>步骤2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消息区域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接入消息列表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区分用户与助手消息</a:t>
            </a: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4DC98D90-C8F8-C670-03E9-2559A40B048D}"/>
              </a:ext>
            </a:extLst>
          </p:cNvPr>
          <p:cNvSpPr/>
          <p:nvPr/>
        </p:nvSpPr>
        <p:spPr>
          <a:xfrm>
            <a:off x="6350000" y="2732280"/>
            <a:ext cx="2286000" cy="2032000"/>
          </a:xfrm>
          <a:prstGeom prst="roundRect">
            <a:avLst>
              <a:gd name="adj" fmla="val 625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chemeClr val="bg2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76FF"/>
                </a:solidFill>
                <a:latin typeface="Noto Sans SC"/>
                <a:ea typeface="Noto Sans SC"/>
                <a:cs typeface="Noto Sans SC"/>
                <a:sym typeface="Noto Sans SC"/>
              </a:rPr>
              <a:t>步骤3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输入区域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接入输入框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发送问题、控制生成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D26BB3AF-4AE4-BEEF-06B0-9613C1DC10CB}"/>
              </a:ext>
            </a:extLst>
          </p:cNvPr>
          <p:cNvSpPr/>
          <p:nvPr/>
        </p:nvSpPr>
        <p:spPr>
          <a:xfrm>
            <a:off x="9017000" y="2732280"/>
            <a:ext cx="2286000" cy="2032000"/>
          </a:xfrm>
          <a:prstGeom prst="roundRect">
            <a:avLst>
              <a:gd name="adj" fmla="val 625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chemeClr val="bg2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76FF"/>
                </a:solidFill>
                <a:latin typeface="Noto Sans SC"/>
                <a:ea typeface="Noto Sans SC"/>
                <a:cs typeface="Noto Sans SC"/>
                <a:sym typeface="Noto Sans SC"/>
              </a:rPr>
              <a:t>步骤4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交互补齐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复制、重生成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加载反馈、错误重试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E8875CC2-3475-DBC7-B0B8-8257BB15A6F4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sz="3000" b="1">
                <a:solidFill>
                  <a:srgbClr val="374151"/>
                </a:solidFill>
              </a:rPr>
              <a:t>从零搭建</a:t>
            </a:r>
            <a:r>
              <a:rPr lang="zh-CN" altLang="en-US" sz="3000" b="1" dirty="0">
                <a:solidFill>
                  <a:srgbClr val="374151"/>
                </a:solidFill>
              </a:rPr>
              <a:t> </a:t>
            </a:r>
            <a:r>
              <a:rPr lang="en-US" altLang="zh-CN" sz="3000" b="1">
                <a:solidFill>
                  <a:srgbClr val="374151"/>
                </a:solidFill>
              </a:rPr>
              <a:t>AI</a:t>
            </a:r>
            <a:r>
              <a:rPr lang="zh-CN" altLang="en-US" sz="3000" b="1" dirty="0">
                <a:solidFill>
                  <a:srgbClr val="374151"/>
                </a:solidFill>
              </a:rPr>
              <a:t> </a:t>
            </a:r>
            <a:r>
              <a:rPr lang="zh-CN" sz="3000" b="1">
                <a:solidFill>
                  <a:srgbClr val="374151"/>
                </a:solidFill>
              </a:rPr>
              <a:t>助手</a:t>
            </a:r>
            <a:r>
              <a:rPr lang="zh-CN" altLang="en-US" sz="3000" b="1">
                <a:solidFill>
                  <a:srgbClr val="374151"/>
                </a:solidFill>
              </a:rPr>
              <a:t>页</a:t>
            </a:r>
            <a:r>
              <a:rPr lang="zh-CN" sz="3000" b="1">
                <a:solidFill>
                  <a:srgbClr val="374151"/>
                </a:solidFill>
              </a:rPr>
              <a:t>面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41820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CB243-2A13-5EB6-C0AB-305C0A9FE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>
            <a:extLst>
              <a:ext uri="{FF2B5EF4-FFF2-40B4-BE49-F238E27FC236}">
                <a16:creationId xmlns:a16="http://schemas.microsoft.com/office/drawing/2014/main" id="{95B45E01-F289-A1BD-1DB0-6FADC22C6682}"/>
              </a:ext>
            </a:extLst>
          </p:cNvPr>
          <p:cNvSpPr/>
          <p:nvPr/>
        </p:nvSpPr>
        <p:spPr>
          <a:xfrm>
            <a:off x="1571885" y="830705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>
                <a:solidFill>
                  <a:srgbClr val="1476FF"/>
                </a:solidFill>
                <a:latin typeface="Noto Sans SC"/>
                <a:sym typeface="Noto Sans SC"/>
              </a:rPr>
              <a:t>04</a:t>
            </a:r>
            <a:endParaRPr lang="en-US" sz="9600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EFB413F7-7156-A2C2-6FD3-63803DC25D59}"/>
              </a:ext>
            </a:extLst>
          </p:cNvPr>
          <p:cNvSpPr/>
          <p:nvPr/>
        </p:nvSpPr>
        <p:spPr>
          <a:xfrm>
            <a:off x="1571885" y="3237459"/>
            <a:ext cx="635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4000" b="1">
                <a:solidFill>
                  <a:srgbClr val="111827"/>
                </a:solidFill>
                <a:latin typeface="Noto Sans SC"/>
                <a:sym typeface="Noto Sans SC"/>
              </a:rPr>
              <a:t>产品化扩展</a:t>
            </a:r>
            <a:endParaRPr lang="en-US" altLang="zh-CN" sz="4000" b="1">
              <a:solidFill>
                <a:srgbClr val="111827"/>
              </a:solidFill>
              <a:latin typeface="Noto Sans SC"/>
            </a:endParaRPr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F3903033-3D3E-75A8-4B62-155F7C0ACCE5}"/>
              </a:ext>
            </a:extLst>
          </p:cNvPr>
          <p:cNvSpPr/>
          <p:nvPr/>
        </p:nvSpPr>
        <p:spPr>
          <a:xfrm>
            <a:off x="1571885" y="4253459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sz="2200">
                <a:solidFill>
                  <a:srgbClr val="4B5563"/>
                </a:solidFill>
                <a:latin typeface="Noto Sans SC"/>
                <a:ea typeface="宋体"/>
                <a:sym typeface="Noto Sans SC"/>
              </a:rPr>
              <a:t>适配更多</a:t>
            </a:r>
            <a:r>
              <a:rPr lang="zh-CN" altLang="en-US" sz="2200" dirty="0">
                <a:solidFill>
                  <a:srgbClr val="4B5563"/>
                </a:solidFill>
                <a:latin typeface="Noto Sans SC"/>
                <a:ea typeface="宋体"/>
                <a:sym typeface="Noto Sans SC"/>
              </a:rPr>
              <a:t> </a:t>
            </a:r>
            <a:r>
              <a:rPr lang="en-US" altLang="zh-CN" sz="2200">
                <a:solidFill>
                  <a:srgbClr val="4B5563"/>
                </a:solidFill>
                <a:latin typeface="Noto Sans SC"/>
                <a:ea typeface="宋体"/>
                <a:sym typeface="Noto Sans SC"/>
              </a:rPr>
              <a:t>AI</a:t>
            </a:r>
            <a:r>
              <a:rPr lang="zh-CN" altLang="en-US" sz="2200" dirty="0">
                <a:solidFill>
                  <a:srgbClr val="4B5563"/>
                </a:solidFill>
                <a:latin typeface="Noto Sans SC"/>
                <a:ea typeface="宋体"/>
                <a:sym typeface="Noto Sans SC"/>
              </a:rPr>
              <a:t> </a:t>
            </a:r>
            <a:r>
              <a:rPr lang="zh-CN" sz="2200">
                <a:solidFill>
                  <a:srgbClr val="4B5563"/>
                </a:solidFill>
                <a:latin typeface="Noto Sans SC"/>
                <a:ea typeface="宋体"/>
                <a:sym typeface="Noto Sans SC"/>
              </a:rPr>
              <a:t>应用场景</a:t>
            </a:r>
            <a:endParaRPr lang="zh-CN">
              <a:ea typeface="宋体"/>
            </a:endParaRPr>
          </a:p>
        </p:txBody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B858B169-D71C-00EA-0399-1E5B3FE9B0D2}"/>
              </a:ext>
            </a:extLst>
          </p:cNvPr>
          <p:cNvSpPr/>
          <p:nvPr/>
        </p:nvSpPr>
        <p:spPr>
          <a:xfrm>
            <a:off x="1571885" y="5015459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147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" name="AutoShape 6">
            <a:extLst>
              <a:ext uri="{FF2B5EF4-FFF2-40B4-BE49-F238E27FC236}">
                <a16:creationId xmlns:a16="http://schemas.microsoft.com/office/drawing/2014/main" id="{0BE81CD7-577B-2C8E-9BC9-B8801199DC26}"/>
              </a:ext>
            </a:extLst>
          </p:cNvPr>
          <p:cNvSpPr/>
          <p:nvPr/>
        </p:nvSpPr>
        <p:spPr>
          <a:xfrm>
            <a:off x="9652000" y="2794000"/>
            <a:ext cx="762000" cy="762000"/>
          </a:xfrm>
          <a:prstGeom prst="roundRect">
            <a:avLst>
              <a:gd name="adj" fmla="val 0"/>
            </a:avLst>
          </a:prstGeom>
          <a:solidFill>
            <a:srgbClr val="1476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3" name="AutoShape 7">
            <a:extLst>
              <a:ext uri="{FF2B5EF4-FFF2-40B4-BE49-F238E27FC236}">
                <a16:creationId xmlns:a16="http://schemas.microsoft.com/office/drawing/2014/main" id="{84708F84-B78A-E570-04AF-5A34D4B1F071}"/>
              </a:ext>
            </a:extLst>
          </p:cNvPr>
          <p:cNvSpPr/>
          <p:nvPr/>
        </p:nvSpPr>
        <p:spPr>
          <a:xfrm>
            <a:off x="10033000" y="3937000"/>
            <a:ext cx="508000" cy="508000"/>
          </a:xfrm>
          <a:prstGeom prst="ellipse">
            <a:avLst/>
          </a:prstGeom>
          <a:solidFill>
            <a:srgbClr val="1476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037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7D6F988C-28FC-F9BB-7806-48B5ADF3E738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sz="3000" b="1">
                <a:solidFill>
                  <a:srgbClr val="374151"/>
                </a:solidFill>
              </a:rPr>
              <a:t>产品化扩展：从基</a:t>
            </a:r>
            <a:r>
              <a:rPr lang="zh-CN" sz="3000" b="1">
                <a:solidFill>
                  <a:srgbClr val="374151"/>
                </a:solidFill>
              </a:rPr>
              <a:t>础助手到客服助手</a:t>
            </a:r>
            <a:endParaRPr lang="zh-CN"/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59505EBA-CA7D-2B0E-5000-502E05F806A2}"/>
              </a:ext>
            </a:extLst>
          </p:cNvPr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25000"/>
              </a:lnSpc>
              <a:defRPr/>
            </a:pPr>
            <a:r>
              <a:rPr lang="zh-CN" alt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在基础助手之上补齐主题、适配和场景引导，让页面更接近真实客服产品</a:t>
            </a:r>
            <a:r>
              <a:rPr lang="en-US" sz="1600" b="1">
                <a:solidFill>
                  <a:schemeClr val="bg2">
                    <a:lumMod val="25000"/>
                  </a:schemeClr>
                </a:solidFill>
                <a:latin typeface="Noto Sans SC"/>
                <a:sym typeface="Noto Sans SC"/>
              </a:rPr>
              <a:t>。</a:t>
            </a:r>
            <a:endParaRPr lang="zh-C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4D3BA90-05D8-C2FF-7D38-8521DD19D690}"/>
              </a:ext>
            </a:extLst>
          </p:cNvPr>
          <p:cNvSpPr/>
          <p:nvPr/>
        </p:nvSpPr>
        <p:spPr>
          <a:xfrm>
            <a:off x="762000" y="1778000"/>
            <a:ext cx="3302000" cy="3810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AD1BDEAE-3506-FEE3-993A-AE85E5733A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159000"/>
            <a:ext cx="609600" cy="609600"/>
          </a:xfrm>
          <a:prstGeom prst="rect">
            <a:avLst/>
          </a:prstGeom>
        </p:spPr>
      </p:pic>
      <p:sp>
        <p:nvSpPr>
          <p:cNvPr id="8" name="AutoShape 6">
            <a:extLst>
              <a:ext uri="{FF2B5EF4-FFF2-40B4-BE49-F238E27FC236}">
                <a16:creationId xmlns:a16="http://schemas.microsoft.com/office/drawing/2014/main" id="{6F556530-B6C2-A80A-19C2-C03B47E79E6A}"/>
              </a:ext>
            </a:extLst>
          </p:cNvPr>
          <p:cNvSpPr/>
          <p:nvPr/>
        </p:nvSpPr>
        <p:spPr>
          <a:xfrm>
            <a:off x="1079500" y="2984500"/>
            <a:ext cx="2667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主题适配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支持浅色/深色主题一键切换，完美适配不同产品的视觉环境与品牌风格。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7E94F0DC-7FFE-E6FB-B7AC-184B466AEC0F}"/>
              </a:ext>
            </a:extLst>
          </p:cNvPr>
          <p:cNvSpPr/>
          <p:nvPr/>
        </p:nvSpPr>
        <p:spPr>
          <a:xfrm>
            <a:off x="4445000" y="1778000"/>
            <a:ext cx="3302000" cy="3810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53FEC70A-099E-05B6-6B66-A95864C2BC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0" y="2159000"/>
            <a:ext cx="609600" cy="609600"/>
          </a:xfrm>
          <a:prstGeom prst="rect">
            <a:avLst/>
          </a:prstGeom>
        </p:spPr>
      </p:pic>
      <p:sp>
        <p:nvSpPr>
          <p:cNvPr id="11" name="AutoShape 9">
            <a:extLst>
              <a:ext uri="{FF2B5EF4-FFF2-40B4-BE49-F238E27FC236}">
                <a16:creationId xmlns:a16="http://schemas.microsoft.com/office/drawing/2014/main" id="{90B2589A-6584-33B5-22BA-E44143347FE1}"/>
              </a:ext>
            </a:extLst>
          </p:cNvPr>
          <p:cNvSpPr/>
          <p:nvPr/>
        </p:nvSpPr>
        <p:spPr>
          <a:xfrm>
            <a:off x="4762500" y="2990745"/>
            <a:ext cx="2667000" cy="25337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响应式适配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桌面端展示完整布局，小屏设备下自动保留核心对话流程，确保体验流畅。</a:t>
            </a:r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5DF45AA1-2122-D00A-53AD-31017CE568AD}"/>
              </a:ext>
            </a:extLst>
          </p:cNvPr>
          <p:cNvSpPr/>
          <p:nvPr/>
        </p:nvSpPr>
        <p:spPr>
          <a:xfrm>
            <a:off x="8128000" y="1778000"/>
            <a:ext cx="3302000" cy="3810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3" name="Picture 11">
            <a:extLst>
              <a:ext uri="{FF2B5EF4-FFF2-40B4-BE49-F238E27FC236}">
                <a16:creationId xmlns:a16="http://schemas.microsoft.com/office/drawing/2014/main" id="{CC558A6C-D45B-DA12-7FB9-0F4443B1C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5500" y="2159000"/>
            <a:ext cx="609600" cy="609600"/>
          </a:xfrm>
          <a:prstGeom prst="rect">
            <a:avLst/>
          </a:prstGeom>
        </p:spPr>
      </p:pic>
      <p:sp>
        <p:nvSpPr>
          <p:cNvPr id="14" name="AutoShape 12">
            <a:extLst>
              <a:ext uri="{FF2B5EF4-FFF2-40B4-BE49-F238E27FC236}">
                <a16:creationId xmlns:a16="http://schemas.microsoft.com/office/drawing/2014/main" id="{E7E299DA-2ACB-3508-6191-893C72FBF64E}"/>
              </a:ext>
            </a:extLst>
          </p:cNvPr>
          <p:cNvSpPr/>
          <p:nvPr/>
        </p:nvSpPr>
        <p:spPr>
          <a:xfrm>
            <a:off x="8445500" y="2859583"/>
            <a:ext cx="2667000" cy="26087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客服场景增强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智能推荐追问问题，支持一键继续咨询，主动引导用户完成服务闭环。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594199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1117E514-FF21-3E89-F2F9-30F4D252703C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sz="3000" b="1">
                <a:solidFill>
                  <a:srgbClr val="374151"/>
                </a:solidFill>
              </a:rPr>
              <a:t>从 Demo 到产品，</a:t>
            </a:r>
            <a:r>
              <a:rPr lang="zh-CN" altLang="en-US" sz="3000" b="1">
                <a:solidFill>
                  <a:srgbClr val="374151"/>
                </a:solidFill>
              </a:rPr>
              <a:t>我们完成了什么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89458FC-0B8B-ED7C-8B75-586D9E7F02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286000"/>
            <a:ext cx="609600" cy="609600"/>
          </a:xfrm>
          <a:prstGeom prst="rect">
            <a:avLst/>
          </a:prstGeom>
        </p:spPr>
      </p:pic>
      <p:sp>
        <p:nvSpPr>
          <p:cNvPr id="7" name="AutoShape 5">
            <a:extLst>
              <a:ext uri="{FF2B5EF4-FFF2-40B4-BE49-F238E27FC236}">
                <a16:creationId xmlns:a16="http://schemas.microsoft.com/office/drawing/2014/main" id="{B4627446-F54C-0EF2-84E9-D886C4615D96}"/>
              </a:ext>
            </a:extLst>
          </p:cNvPr>
          <p:cNvSpPr/>
          <p:nvPr/>
        </p:nvSpPr>
        <p:spPr>
          <a:xfrm>
            <a:off x="10160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1. 理解定位</a:t>
            </a:r>
            <a:endParaRPr lang="en-US" sz="110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3C59E280-A714-5418-B037-C6155D702070}"/>
              </a:ext>
            </a:extLst>
          </p:cNvPr>
          <p:cNvSpPr/>
          <p:nvPr/>
        </p:nvSpPr>
        <p:spPr>
          <a:xfrm>
            <a:off x="1016000" y="3683000"/>
            <a:ext cx="228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 界面不只是聊天框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 AI 应用界面基础设施</a:t>
            </a:r>
            <a:endParaRPr lang="en-US" sz="1100"/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3085DEF8-8583-38C0-5DA1-E0230C9081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000" y="2286000"/>
            <a:ext cx="609600" cy="609600"/>
          </a:xfrm>
          <a:prstGeom prst="rect">
            <a:avLst/>
          </a:prstGeom>
        </p:spPr>
      </p:pic>
      <p:sp>
        <p:nvSpPr>
          <p:cNvPr id="10" name="AutoShape 8">
            <a:extLst>
              <a:ext uri="{FF2B5EF4-FFF2-40B4-BE49-F238E27FC236}">
                <a16:creationId xmlns:a16="http://schemas.microsoft.com/office/drawing/2014/main" id="{66F81886-3A82-5DC0-FE0D-7B29CFD6E74F}"/>
              </a:ext>
            </a:extLst>
          </p:cNvPr>
          <p:cNvSpPr/>
          <p:nvPr/>
        </p:nvSpPr>
        <p:spPr>
          <a:xfrm>
            <a:off x="38100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2. 查看成品</a:t>
            </a:r>
            <a:endParaRPr lang="en-US" sz="1100"/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05EADD73-6A2C-B6C1-8C66-5DB7E1062202}"/>
              </a:ext>
            </a:extLst>
          </p:cNvPr>
          <p:cNvSpPr/>
          <p:nvPr/>
        </p:nvSpPr>
        <p:spPr>
          <a:xfrm>
            <a:off x="3810000" y="3683000"/>
            <a:ext cx="228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完整客服助手界面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历史对话/消息流/输入区</a:t>
            </a:r>
            <a:endParaRPr lang="en-US" sz="1100"/>
          </a:p>
        </p:txBody>
      </p:sp>
      <p:pic>
        <p:nvPicPr>
          <p:cNvPr id="12" name="Picture 10">
            <a:extLst>
              <a:ext uri="{FF2B5EF4-FFF2-40B4-BE49-F238E27FC236}">
                <a16:creationId xmlns:a16="http://schemas.microsoft.com/office/drawing/2014/main" id="{430003D4-5934-FBB0-D050-05A375D5A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2286000"/>
            <a:ext cx="609600" cy="609600"/>
          </a:xfrm>
          <a:prstGeom prst="rect">
            <a:avLst/>
          </a:prstGeom>
        </p:spPr>
      </p:pic>
      <p:sp>
        <p:nvSpPr>
          <p:cNvPr id="13" name="AutoShape 11">
            <a:extLst>
              <a:ext uri="{FF2B5EF4-FFF2-40B4-BE49-F238E27FC236}">
                <a16:creationId xmlns:a16="http://schemas.microsoft.com/office/drawing/2014/main" id="{6963E43E-2660-D216-DAF2-3D37A9974765}"/>
              </a:ext>
            </a:extLst>
          </p:cNvPr>
          <p:cNvSpPr/>
          <p:nvPr/>
        </p:nvSpPr>
        <p:spPr>
          <a:xfrm>
            <a:off x="66040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3. 组件实践</a:t>
            </a:r>
            <a:endParaRPr lang="en-US" sz="1100"/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1A15A1AF-5EC7-5EAE-8247-09C38AFDD037}"/>
              </a:ext>
            </a:extLst>
          </p:cNvPr>
          <p:cNvSpPr/>
          <p:nvPr/>
        </p:nvSpPr>
        <p:spPr>
          <a:xfrm>
            <a:off x="6604000" y="3683000"/>
            <a:ext cx="228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搭建基础 AI 助手页面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接入消息/输入区交互</a:t>
            </a:r>
            <a:endParaRPr lang="en-US" sz="1100"/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C9CBF506-8749-8FA9-F258-7F0437B5D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0" y="2286000"/>
            <a:ext cx="609600" cy="609600"/>
          </a:xfrm>
          <a:prstGeom prst="rect">
            <a:avLst/>
          </a:prstGeom>
        </p:spPr>
      </p:pic>
      <p:sp>
        <p:nvSpPr>
          <p:cNvPr id="16" name="AutoShape 14">
            <a:extLst>
              <a:ext uri="{FF2B5EF4-FFF2-40B4-BE49-F238E27FC236}">
                <a16:creationId xmlns:a16="http://schemas.microsoft.com/office/drawing/2014/main" id="{F03AA94E-DB1F-3C22-EA0D-B99C249E71BC}"/>
              </a:ext>
            </a:extLst>
          </p:cNvPr>
          <p:cNvSpPr/>
          <p:nvPr/>
        </p:nvSpPr>
        <p:spPr>
          <a:xfrm>
            <a:off x="93980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4. 产品化扩展</a:t>
            </a:r>
            <a:endParaRPr lang="en-US" sz="1100"/>
          </a:p>
        </p:txBody>
      </p:sp>
      <p:sp>
        <p:nvSpPr>
          <p:cNvPr id="17" name="AutoShape 15">
            <a:extLst>
              <a:ext uri="{FF2B5EF4-FFF2-40B4-BE49-F238E27FC236}">
                <a16:creationId xmlns:a16="http://schemas.microsoft.com/office/drawing/2014/main" id="{C6538E7F-3D69-9BB0-F623-FC00DE4C8F8A}"/>
              </a:ext>
            </a:extLst>
          </p:cNvPr>
          <p:cNvSpPr/>
          <p:nvPr/>
        </p:nvSpPr>
        <p:spPr>
          <a:xfrm>
            <a:off x="9398000" y="3683000"/>
            <a:ext cx="228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深浅色主题/响应式适配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推荐追问增强体验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31827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12</Slides>
  <Notes>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185</cp:revision>
  <dcterms:created xsi:type="dcterms:W3CDTF">2026-05-25T03:23:35Z</dcterms:created>
  <dcterms:modified xsi:type="dcterms:W3CDTF">2026-05-25T08:38:41Z</dcterms:modified>
</cp:coreProperties>
</file>